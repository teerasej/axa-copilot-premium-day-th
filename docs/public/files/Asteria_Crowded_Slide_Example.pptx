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5add0e79a40f5" /><Relationship Type="http://schemas.openxmlformats.org/officeDocument/2006/relationships/extended-properties" Target="/docProps/app.xml" Id="Rce4b3e52a9384841" /><Relationship Type="http://schemas.openxmlformats.org/officeDocument/2006/relationships/officeDocument" Target="/ppt/presentation.xml" Id="R32f972f3644a46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8342bfc7834f48"/>
  </p:sldMasterIdLst>
  <p:notesMasterIdLst>
    <p:notesMasterId xmlns:r="http://schemas.openxmlformats.org/officeDocument/2006/relationships" r:id="Rd1651aeb87cb4eb2"/>
  </p:notesMasterIdLst>
  <p:sldIdLst>
    <p:sldId xmlns:r="http://schemas.openxmlformats.org/officeDocument/2006/relationships" id="256" r:id="R2f1e6f16cd8941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83bc2fa584782" /><Relationship Type="http://schemas.openxmlformats.org/officeDocument/2006/relationships/slideMaster" Target="/ppt/slideMasters/slideMaster1.xml" Id="Ra98342bfc7834f48" /><Relationship Type="http://schemas.openxmlformats.org/officeDocument/2006/relationships/notesMaster" Target="/ppt/notesMasters/notesMaster1.xml" Id="Rd1651aeb87cb4eb2" /><Relationship Type="http://schemas.openxmlformats.org/officeDocument/2006/relationships/presProps" Target="/ppt/presProps.xml" Id="Rc6af2f06583e43e2" /><Relationship Type="http://schemas.openxmlformats.org/officeDocument/2006/relationships/tableStyles" Target="/ppt/tableStyles.xml" Id="R63c92141901d4db5" /><Relationship Type="http://schemas.openxmlformats.org/officeDocument/2006/relationships/slide" Target="/ppt/slides/slide1.xml" Id="R2f1e6f16cd89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5b90ad0ec45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4b5bf88c94038" /><Relationship Type="http://schemas.openxmlformats.org/officeDocument/2006/relationships/notesMaster" Target="/ppt/notesMasters/notesMaster1.xml" Id="Rbf926cd39953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example created solely for the PowerPoint Makeover challenge. All numbers are synthetic and self-contained, not extracted from Asteria_Service_KPI_28days.xlsx. Facts: 96 received; 72 complete; 24 need information; 72/96 = 75%. Proposal only: clearer submission checklist. No assigned owner or date and no approval, causation or savings claim. Learners duplicate this dense slide and improve hierarchy without altering these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90fbeb52245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718c296e743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1831f46e741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420aa63c24a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e300e1dee4a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724866d01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2C7BC8-306E-4D00-B2A1-63D89184C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D5E8AB-36CA-4E6F-B1CE-0B9E53CEC1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9523FE-4DA8-43D1-9294-8D58B3ACC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610FC7-EA14-4DFA-804B-77017F40F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BCB058-FED6-4CDA-A28E-A030BE37E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195CA8-9EE2-4DFC-8C86-AAE3A8329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DE3BCE-64D9-4640-AB9C-57E7EA7CB4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1432CD-1077-475C-9638-335AFAB5EA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ECA7FD-DF70-4F14-8F82-04E9A14EE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306411-8729-4124-9AD5-44765D4AD5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a62c5aa6049ec" /><Relationship Type="http://schemas.openxmlformats.org/officeDocument/2006/relationships/slideLayout" Target="/ppt/slideLayouts/slideLayout1.xml" Id="Ree3354f418b541e4" /><Relationship Type="http://schemas.openxmlformats.org/officeDocument/2006/relationships/slideLayout" Target="/ppt/slideLayouts/slideLayout2.xml" Id="Rd96eb07bc95d4fb5" /><Relationship Type="http://schemas.openxmlformats.org/officeDocument/2006/relationships/slideLayout" Target="/ppt/slideLayouts/slideLayout3.xml" Id="Rfd3d37c62b424d30" /><Relationship Type="http://schemas.openxmlformats.org/officeDocument/2006/relationships/slideLayout" Target="/ppt/slideLayouts/slideLayout4.xml" Id="R29018bb5c87d4f5e" /><Relationship Type="http://schemas.openxmlformats.org/officeDocument/2006/relationships/slideLayout" Target="/ppt/slideLayouts/slideLayout5.xml" Id="Rb56af230e3fe422e" /><Relationship Type="http://schemas.openxmlformats.org/officeDocument/2006/relationships/slideLayout" Target="/ppt/slideLayouts/slideLayout6.xml" Id="R1e533b992968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354f418b541e4"/>
    <p:sldLayoutId xmlns:r="http://schemas.openxmlformats.org/officeDocument/2006/relationships" id="2147483650" r:id="Rd96eb07bc95d4fb5"/>
    <p:sldLayoutId xmlns:r="http://schemas.openxmlformats.org/officeDocument/2006/relationships" id="2147483651" r:id="Rfd3d37c62b424d30"/>
    <p:sldLayoutId xmlns:r="http://schemas.openxmlformats.org/officeDocument/2006/relationships" id="2147483652" r:id="R29018bb5c87d4f5e"/>
    <p:sldLayoutId xmlns:r="http://schemas.openxmlformats.org/officeDocument/2006/relationships" id="2147483653" r:id="Rb56af230e3fe422e"/>
    <p:sldLayoutId xmlns:r="http://schemas.openxmlformats.org/officeDocument/2006/relationships" id="2147483654" r:id="R1e533b992968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b7c6357cb49b7" /><Relationship Type="http://schemas.openxmlformats.org/officeDocument/2006/relationships/notesSlide" Target="/ppt/notesSlides/notesSlide1.xml" Id="Rccda50dfc6084e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07822-3F14-4B85-9647-6E58C060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>
                <a:solidFill>
                  <a:srgbClr val="142C40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 xmlns:a="http://schemas.openxmlformats.org/drawingml/2006/main">
            <a:pPr>
              <a:defRPr sz="2775">
                <a:solidFill>
                  <a:srgbClr val="142C40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2775">
                <a:solidFill>
                  <a:srgbClr val="142C40"/>
                </a:solidFill>
                <a:latin typeface="Avenir Next Demi Bold"/>
                <a:ea typeface="Avenir Next Demi Bold"/>
                <a:cs typeface="Avenir Next Demi Bold"/>
              </a:rPr>
              <a:t>Asteria documentation review: results, status and possible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C5300-8AFB-4EF9-A18F-47B49A29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76325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 xmlns:a="http://schemas.openxmlformats.org/drawingml/2006/main">
            <a:pPr>
              <a:defRPr sz="1500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500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rPr>
              <a:t>ILLUSTRATIVE EXAMPLE • FICTIONAL TRAINING DATA •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B8421-4496-4CD8-AED2-0F6F186B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38300"/>
            <a:ext cx="1133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>
                <a:solidFill>
                  <a:srgbClr val="25384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025">
                <a:solidFill>
                  <a:srgbClr val="253847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253847"/>
                </a:solidFill>
                <a:latin typeface="Avenir Next"/>
                <a:ea typeface="Avenir Next"/>
                <a:cs typeface="Avenir Next"/>
              </a:rPr>
              <a:t>During Week 4, the Asteria training team received 96 request packages. Of these, 72 packages contained all checklist items and 24 packages needed further information. The completed-document proportion was 75%. These statuses describe document completeness only and do not indicate a claim approval.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66ADD-9FAC-4813-8B08-1CB19B72E381}"/>
              </a:ext>
            </a:extLst>
          </p:cNvPr>
          <p:cNvGraphicFramePr/>
          <p:nvPr/>
        </p:nvGraphicFramePr>
        <p:xfrm>
          <a:off xmlns:a="http://schemas.openxmlformats.org/drawingml/2006/main" x="381000" y="3114675"/>
          <a:ext xmlns:a="http://schemas.openxmlformats.org/drawingml/2006/main" cx="1133475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8925"/>
                <a:gridCol w="2828925"/>
                <a:gridCol w="2838450"/>
                <a:gridCol w="2838450"/>
              </a:tblGrid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Packages received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4DAD9"/>
                      </a:solidFill>
                      <a:prstDash val="solid"/>
                    </a:lnL>
                    <a:lnR w="6668">
                      <a:solidFill>
                        <a:srgbClr val="D4DAD9"/>
                      </a:solidFill>
                      <a:prstDash val="solid"/>
                    </a:lnR>
                    <a:lnT w="6668">
                      <a:solidFill>
                        <a:srgbClr val="D4DAD9"/>
                      </a:solidFill>
                      <a:prstDash val="solid"/>
                    </a:lnT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Complete documents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T w="6668">
                      <a:solidFill>
                        <a:srgbClr val="D4DAD9"/>
                      </a:solidFill>
                      <a:prstDash val="solid"/>
                    </a:lnT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Needs more information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T w="6668">
                      <a:solidFill>
                        <a:srgbClr val="D4DAD9"/>
                      </a:solidFill>
                      <a:prstDash val="solid"/>
                    </a:lnT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venir Next Demi Bold"/>
                          <a:ea typeface="Avenir Next Demi Bold"/>
                          <a:cs typeface="Avenir Next Demi Bold"/>
                        </a:rPr>
                        <a:t>Complete proportion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T w="6668">
                      <a:solidFill>
                        <a:srgbClr val="D4DAD9"/>
                      </a:solidFill>
                      <a:prstDash val="solid"/>
                    </a:lnT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142C4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3847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96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4DAD9"/>
                      </a:solidFill>
                      <a:prstDash val="solid"/>
                    </a:lnL>
                    <a:lnR w="6668">
                      <a:solidFill>
                        <a:srgbClr val="D4DAD9"/>
                      </a:solidFill>
                      <a:prstDash val="solid"/>
                    </a:lnR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3847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3847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3847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4DAD9"/>
                      </a:solidFill>
                      <a:prstDash val="solid"/>
                    </a:lnR>
                    <a:lnB w="6668">
                      <a:solidFill>
                        <a:srgbClr val="D4DA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AA754-7CA8-4E75-A006-7D25BD8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334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5384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950">
                <a:solidFill>
                  <a:srgbClr val="253847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253847"/>
                </a:solidFill>
                <a:latin typeface="Avenir Next"/>
                <a:ea typeface="Avenir Next"/>
                <a:cs typeface="Avenir Next"/>
              </a:rPr>
              <a:t>Possible next step: the team proposes a clearer checklist before submission. This proposal has not been approved. No owner or due date has been assigned. The available figures do not establish the cause of missing information, a future improvement rate, a financial saving or an insurance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303A7-A998-4B9B-BEE7-721AF07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33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defRPr>
            </a:defPPr>
          </a:lstStyle>
          <a:p xmlns:a="http://schemas.openxmlformats.org/drawingml/2006/main">
            <a:pPr>
              <a:defRPr sz="1575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defRPr>
            </a:pPr>
            <a:r>
              <a:rPr sz="1575">
                <a:solidFill>
                  <a:srgbClr val="087F83"/>
                </a:solidFill>
                <a:latin typeface="Avenir Next Demi Bold"/>
                <a:ea typeface="Avenir Next Demi Bold"/>
                <a:cs typeface="Avenir Next Demi Bold"/>
              </a:rPr>
              <a:t>Makeover task: duplicate this slide, preserve every fact and clarify one main message. These numbers are independent of the KPI workbook.</a:t>
            </a:r>
          </a:p>
        </p:txBody>
      </p:sp>
    </p:spTree>
    <p:extLst>
      <p:ext uri="{BB962C8B-B14F-4D97-AF65-F5344CB8AC3E}">
        <p14:creationId xmlns:p14="http://schemas.microsoft.com/office/powerpoint/2010/main" val="433980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2026-10-13T15:59:41.9010000Z</dcterms:created>
  <dcterms:modified xsi:type="dcterms:W3CDTF">2026-10-13T15:59:41.9010000Z</dcterms:modified>
</coreProperties>
</file>